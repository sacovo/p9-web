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4704" y="899592"/>
            <a:ext cx="5560412" cy="31277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1" type="ftr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de-CH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‒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0" type="dt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3" type="hd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288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System_F#cite_note-gr2-11" TargetMode="External"/><Relationship Id="rId3" Type="http://schemas.openxmlformats.org/officeDocument/2006/relationships/hyperlink" Target="https://en.wikipedia.org/wiki/System_F#cite_note-gr2-11" TargetMode="External"/><Relationship Id="rId4" Type="http://schemas.openxmlformats.org/officeDocument/2006/relationships/hyperlink" Target="https://en.wikipedia.org/wiki/System_F#cite_note-gr2-11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764704" y="899592"/>
            <a:ext cx="5560412" cy="31277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9b4724044_0_1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09b4724044_0_1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91" name="Google Shape;91;g409b4724044_0_1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09b4724044_0_12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09b4724044_0_12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99" name="Google Shape;99;g409b4724044_0_12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09b4065c88_0_9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09b4065c88_0_9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06" name="Google Shape;106;g409b4065c88_0_9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764704" y="899592"/>
            <a:ext cx="5560412" cy="31277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Jean-Yves Girard is a highly influential French mathematician and logician, primarily known for his contributions to mathematical logic and proof theory.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de-CH"/>
              <a:t>Girard proved the </a:t>
            </a:r>
            <a:r>
              <a:rPr i="1" lang="de-CH"/>
              <a:t>representation theorem</a:t>
            </a:r>
            <a:r>
              <a:rPr lang="de-CH"/>
              <a:t>: that in second-order intuitionistic predicate logic (P2), functions from the natural numbers to the natural numbers that can be proved total, form a projection from P2 into F2 second-order polymorphic lambda calculus.</a:t>
            </a:r>
            <a:r>
              <a:rPr baseline="30000" lang="de-CH" u="sng">
                <a:solidFill>
                  <a:schemeClr val="hlink"/>
                </a:solidFill>
                <a:hlinkClick r:id="rId2"/>
              </a:rPr>
              <a:t>[11]</a:t>
            </a:r>
            <a:r>
              <a:rPr lang="de-CH"/>
              <a:t> Reynolds proved the </a:t>
            </a:r>
            <a:r>
              <a:rPr i="1" lang="de-CH"/>
              <a:t>abstraction theorem</a:t>
            </a:r>
            <a:r>
              <a:rPr lang="de-CH"/>
              <a:t>: that every term in F2 satisfies a logical relation, which can be embedded into the logical relations P2.</a:t>
            </a:r>
            <a:r>
              <a:rPr baseline="30000" lang="de-CH" u="sng">
                <a:solidFill>
                  <a:schemeClr val="hlink"/>
                </a:solidFill>
                <a:hlinkClick r:id="rId3"/>
              </a:rPr>
              <a:t>[11]</a:t>
            </a:r>
            <a:r>
              <a:rPr lang="de-CH"/>
              <a:t> Reynolds proved that a Girard projection followed by a Reynolds embedding form the identity, i.e., the </a:t>
            </a:r>
            <a:r>
              <a:rPr b="1" lang="de-CH"/>
              <a:t>Girard–Reynolds isomorphism</a:t>
            </a:r>
            <a:r>
              <a:rPr lang="de-CH"/>
              <a:t>.</a:t>
            </a:r>
            <a:r>
              <a:rPr baseline="30000" lang="de-CH" u="sng">
                <a:solidFill>
                  <a:schemeClr val="hlink"/>
                </a:solidFill>
                <a:hlinkClick r:id="rId4"/>
              </a:rPr>
              <a:t>[11]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Centre national de la recherche scientifique: CNRS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09b4065c88_0_2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09b4065c88_0_2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29" name="Google Shape;129;g409b4065c88_0_2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b4065c88_0_23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9b4065c88_0_23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37" name="Google Shape;137;g409b4065c88_0_23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09b4065c88_0_16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09b4065c88_0_16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45" name="Google Shape;145;g409b4065c88_0_16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9b4065c88_0_44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9b4065c88_0_44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53" name="Google Shape;153;g409b4065c88_0_44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09b4065c88_0_51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09b4065c88_0_51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61" name="Google Shape;161;g409b4065c88_0_51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b4724044_0_41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09b4724044_0_41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69" name="Google Shape;169;g409b4724044_0_41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09b4724044_0_21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409b4724044_0_21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77" name="Google Shape;177;g409b4724044_0_21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09b4724044_0_29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09b4724044_0_29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85" name="Google Shape;185;g409b4724044_0_29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09b4724044_0_35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09b4724044_0_35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93" name="Google Shape;193;g409b4724044_0_35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b4724044_0_48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409b4724044_0_48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01" name="Google Shape;201;g409b4724044_0_48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b4724044_0_61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09b4724044_0_61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08" name="Google Shape;208;g409b4724044_0_61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409b58b2584_0_15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409b58b2584_0_15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16" name="Google Shape;216;g409b58b2584_0_15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b4724044_0_69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09b4724044_0_69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24" name="Google Shape;224;g409b4724044_0_69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09b4724044_0_77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09b4724044_0_77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32" name="Google Shape;232;g409b4724044_0_77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09b4724044_0_85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09b4724044_0_85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40" name="Google Shape;240;g409b4724044_0_85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09b4724044_0_93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09b4724044_0_93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48" name="Google Shape;248;g409b4724044_0_93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09b4724044_0_100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09b4724044_0_100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56" name="Google Shape;256;g409b4724044_0_100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09b58b2584_0_0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09b58b2584_0_0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64" name="Google Shape;264;g409b58b2584_0_0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09b4724044_0_108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09b4724044_0_108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72" name="Google Shape;272;g409b4724044_0_108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09b4724044_0_119:notes"/>
          <p:cNvSpPr/>
          <p:nvPr>
            <p:ph idx="2" type="sldImg"/>
          </p:nvPr>
        </p:nvSpPr>
        <p:spPr>
          <a:xfrm>
            <a:off x="764704" y="899592"/>
            <a:ext cx="5560500" cy="31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09b4724044_0_119:notes"/>
          <p:cNvSpPr txBox="1"/>
          <p:nvPr>
            <p:ph idx="12" type="sldNum"/>
          </p:nvPr>
        </p:nvSpPr>
        <p:spPr>
          <a:xfrm>
            <a:off x="5462663" y="8712000"/>
            <a:ext cx="871200" cy="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80" name="Google Shape;280;g409b4724044_0_119:notes"/>
          <p:cNvSpPr txBox="1"/>
          <p:nvPr>
            <p:ph idx="1" type="body"/>
          </p:nvPr>
        </p:nvSpPr>
        <p:spPr>
          <a:xfrm>
            <a:off x="773424" y="4283968"/>
            <a:ext cx="5560500" cy="42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**"Is this actually reinforcement learning?"** No policy gradient, no online RL. It is critic-based relabeling plus conditioned supervised fine-tuning — chosen deliberately because it needs neither reward shaping nor online-RL infrastructure.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**"Where does the success signal come from with no human involved?"** From the simulator (`meta/episodes.parquet`). On real hardware that would be the open question — and the reason a critic that judges from images is interesting in the first place.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**"n=500, one seed — are the differences significant?"** Suite-level standard error ≈ ±2 points. The large effects (KI +5…+11, co-training +5.2 on average) are clearly above it; the fine-grained f⁺ differences on `long` are not — the paper says so too.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**"Why is the `object` suite missing?"** Every policy including the base runs to timeout there; we suspect corrupted pre-training demos. It affects all configurations identically, so it separates nothing. (If someone presses: `--augmentation` fixes it, but it was not part of the evaluated setup.)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**"Why not just collect more demos instead of rollouts?"** Demos cost human time per episode, rollouts cost GPU time. That is the whole economic point — and the results say you need both: few demos plus many rollouts.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**"How does this differ from the original RECAP?"** A 10× smaller model, no teleoperation corrections, and the resulting insight that demo co-training has to take over their role.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/>
              <a:t>- **"Why 10 Euler steps — why not simply fewer?"** Fewer steps without distillation degrades action quality; SnapFlow explicitly trains the single step to hit the integral.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08076" y="6223621"/>
            <a:ext cx="263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 rot="-5400000">
            <a:off x="12031569" y="148321"/>
            <a:ext cx="360000" cy="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 rot="-5400000">
            <a:off x="12031569" y="148321"/>
            <a:ext cx="360000" cy="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3" name="Google Shape;23;p2"/>
          <p:cNvSpPr/>
          <p:nvPr>
            <p:ph idx="2" type="pic"/>
          </p:nvPr>
        </p:nvSpPr>
        <p:spPr>
          <a:xfrm>
            <a:off x="6103027" y="850779"/>
            <a:ext cx="5323238" cy="6007221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sp>
      <p:sp>
        <p:nvSpPr>
          <p:cNvPr id="24" name="Google Shape;24;p2"/>
          <p:cNvSpPr txBox="1"/>
          <p:nvPr>
            <p:ph idx="1" type="body"/>
          </p:nvPr>
        </p:nvSpPr>
        <p:spPr>
          <a:xfrm>
            <a:off x="408076" y="5229000"/>
            <a:ext cx="5265300" cy="9352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type="ctrTitle"/>
          </p:nvPr>
        </p:nvSpPr>
        <p:spPr>
          <a:xfrm>
            <a:off x="407368" y="1117240"/>
            <a:ext cx="5265301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3" type="subTitle"/>
          </p:nvPr>
        </p:nvSpPr>
        <p:spPr>
          <a:xfrm>
            <a:off x="408076" y="2926800"/>
            <a:ext cx="52653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406800" y="1170372"/>
            <a:ext cx="110124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406800" y="1989138"/>
            <a:ext cx="11016850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556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itel">
  <p:cSld name="Kapiteltitel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txBody>
          <a:bodyPr anchorCtr="0" anchor="ctr" bIns="45700" lIns="72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06800" y="1067524"/>
            <a:ext cx="10587038" cy="921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50"/>
              <a:buFont typeface="Arial"/>
              <a:buNone/>
              <a:defRPr sz="5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 rot="-5400000">
            <a:off x="12030000" y="162000"/>
            <a:ext cx="360000" cy="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 rot="-5400000">
            <a:off x="12030000" y="162000"/>
            <a:ext cx="360000" cy="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406800" y="1170372"/>
            <a:ext cx="110124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406800" y="1989138"/>
            <a:ext cx="11016850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/>
            </a:lvl2pPr>
            <a:lvl3pPr indent="-3556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3pPr>
            <a:lvl4pPr indent="-3556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406800" y="1170372"/>
            <a:ext cx="110124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406800" y="1989137"/>
            <a:ext cx="5040000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6385979" y="1989138"/>
            <a:ext cx="5037671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und Bild links">
  <p:cSld name="Inhalt und Bild link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6030175" y="1170372"/>
            <a:ext cx="539347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6030175" y="1989138"/>
            <a:ext cx="5393475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58" name="Google Shape;58;p7"/>
          <p:cNvSpPr/>
          <p:nvPr>
            <p:ph idx="2" type="pic"/>
          </p:nvPr>
        </p:nvSpPr>
        <p:spPr>
          <a:xfrm>
            <a:off x="-2941" y="846001"/>
            <a:ext cx="5324400" cy="5688000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und Bild rechts">
  <p:cSld name="Inhalt und Bild rech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406800" y="1170372"/>
            <a:ext cx="5040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406800" y="1989138"/>
            <a:ext cx="5040000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65" name="Google Shape;65;p8"/>
          <p:cNvSpPr/>
          <p:nvPr>
            <p:ph idx="2" type="pic"/>
          </p:nvPr>
        </p:nvSpPr>
        <p:spPr>
          <a:xfrm>
            <a:off x="6098226" y="846000"/>
            <a:ext cx="5324400" cy="5688000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vollflächig">
  <p:cSld name="Bild vollflächig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70" name="Google Shape;70;p9"/>
          <p:cNvSpPr/>
          <p:nvPr>
            <p:ph idx="2" type="pic"/>
          </p:nvPr>
        </p:nvSpPr>
        <p:spPr>
          <a:xfrm>
            <a:off x="0" y="846872"/>
            <a:ext cx="11423650" cy="5688000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06800" y="1170372"/>
            <a:ext cx="110168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08076" y="1170372"/>
            <a:ext cx="1101557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9767508" y="6618222"/>
            <a:ext cx="150642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de-CH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www.fhnw.ch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0457" y="212400"/>
            <a:ext cx="2727663" cy="424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A4A3A4"/>
          </p15:clr>
        </p15:guide>
        <p15:guide id="2" pos="7196">
          <p15:clr>
            <a:srgbClr val="A4A3A4"/>
          </p15:clr>
        </p15:guide>
        <p15:guide id="3" orient="horz" pos="3883">
          <p15:clr>
            <a:srgbClr val="A4A3A4"/>
          </p15:clr>
        </p15:guide>
        <p15:guide id="4" orient="horz" pos="1253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acovo/smolva-rl" TargetMode="External"/><Relationship Id="rId4" Type="http://schemas.openxmlformats.org/officeDocument/2006/relationships/hyperlink" Target="https://sacovo.github.io/smolva-rl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igEKpn31twxUhSHNmKatsuA96ztBL4K2/view" TargetMode="External"/><Relationship Id="rId4" Type="http://schemas.openxmlformats.org/officeDocument/2006/relationships/image" Target="../media/image3.jpg"/><Relationship Id="rId5" Type="http://schemas.openxmlformats.org/officeDocument/2006/relationships/hyperlink" Target="http://drive.google.com/file/d/1YrBxzy60Nb-FqRBdPBPpyQEUd6xbScFM/view" TargetMode="External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idx="11" type="ftr"/>
          </p:nvPr>
        </p:nvSpPr>
        <p:spPr>
          <a:xfrm rot="-5400000">
            <a:off x="12031569" y="148321"/>
            <a:ext cx="360000" cy="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CH"/>
              <a:t>Fusszeile (Ändern über «Einfügen &gt; Kopf- und Fusszeile»)</a:t>
            </a:r>
            <a:endParaRPr/>
          </a:p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 rot="-5400000">
            <a:off x="12031569" y="148321"/>
            <a:ext cx="360000" cy="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ctrTitle"/>
          </p:nvPr>
        </p:nvSpPr>
        <p:spPr>
          <a:xfrm>
            <a:off x="407368" y="1117240"/>
            <a:ext cx="5265301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de-CH" sz="3500"/>
              <a:t>Enhancing SmolVLA with Reinforcement Learning</a:t>
            </a:r>
            <a:endParaRPr sz="3100"/>
          </a:p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08076" y="2926800"/>
            <a:ext cx="52653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CH"/>
              <a:t>Code: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CH" u="sng">
                <a:solidFill>
                  <a:schemeClr val="hlink"/>
                </a:solidFill>
                <a:hlinkClick r:id="rId3"/>
              </a:rPr>
              <a:t>https://github.com/sacovo/smolva-rl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CH"/>
              <a:t>Page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CH" u="sng">
                <a:solidFill>
                  <a:schemeClr val="hlink"/>
                </a:solidFill>
                <a:hlinkClick r:id="rId4"/>
              </a:rPr>
              <a:t>https://sacovo.github.io/smolva-rl/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 sz="950">
                <a:solidFill>
                  <a:schemeClr val="dk1"/>
                </a:solidFill>
              </a:rPr>
              <a:t>‹#›</a:t>
            </a:fld>
            <a:endParaRPr sz="950">
              <a:solidFill>
                <a:schemeClr val="dk1"/>
              </a:solidFill>
            </a:endParaRPr>
          </a:p>
        </p:txBody>
      </p:sp>
      <p:pic>
        <p:nvPicPr>
          <p:cNvPr id="94" name="Google Shape;94;p13" title="250k_goalT0_drawer_FAIL_ep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475" y="843263"/>
            <a:ext cx="5557525" cy="55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title="cotrain_goalT0_drawer_SUCCESS_ep0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2000" y="843275"/>
            <a:ext cx="5557525" cy="55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406800" y="1170375"/>
            <a:ext cx="10200300" cy="27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3700"/>
              <a:t>Can a </a:t>
            </a:r>
            <a:r>
              <a:rPr b="1" lang="de-CH" sz="3700"/>
              <a:t>small</a:t>
            </a:r>
            <a:r>
              <a:rPr lang="de-CH" sz="3700"/>
              <a:t> robot model improve from its own experience, with no human in the loop, and still run on a 15-watt computer?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The constraint: Model Size</a:t>
            </a:r>
            <a:endParaRPr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PI runs with X GB of VRAM on a RTX 4090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Our rover has a nvidia jetson with 16GB of shared ram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Not all available to us, rest of the stack also needs it</a:t>
            </a:r>
            <a:endParaRPr/>
          </a:p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de-CH"/>
              <a:t>Overview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406800" y="1989138"/>
            <a:ext cx="11016850" cy="417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Introduction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VLA: Vision Language Action Models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Benchmarking with LIBERO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RECAP</a:t>
            </a:r>
            <a:endParaRPr/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Concepts developed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SmolVLA with RECAp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Knowledge Insulation</a:t>
            </a:r>
            <a:endParaRPr/>
          </a:p>
          <a:p>
            <a:pPr indent="-3429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SnapFlow and Guidance Baking</a:t>
            </a:r>
            <a:endParaRPr/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Results and Analysis</a:t>
            </a:r>
            <a:endParaRPr/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CH"/>
              <a:t>What is a VLA (vision-language-action) model?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Deep Learning for Robotic control</a:t>
            </a:r>
            <a:endParaRPr/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Chunking (trajectory and open loop instead of closed loop with single steps)</a:t>
            </a:r>
            <a:endParaRPr/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Input: Task, Vision, State =&gt; vlm -&gt; flow matching -&gt; output: action chunk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Examples:</a:t>
            </a:r>
            <a:endParaRPr/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pi05, nvidias</a:t>
            </a:r>
            <a:endParaRPr/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SmolVLA -&gt; our policy, small and runs on the jetson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Imitation Learning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Commonly used for training vla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Maybe a short </a:t>
            </a:r>
            <a:r>
              <a:rPr lang="de-CH"/>
              <a:t>rendering</a:t>
            </a:r>
            <a:r>
              <a:rPr lang="de-CH"/>
              <a:t> of the libero dataset to visualize it</a:t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RECAP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Flow chart of the whole process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General principle: Advantage conditioning, </a:t>
            </a:r>
            <a:r>
              <a:rPr lang="de-CH"/>
              <a:t>critic</a:t>
            </a:r>
            <a:r>
              <a:rPr lang="de-CH"/>
              <a:t> labeling, rollout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Flow Matching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Why Flow Matching vs. regression/…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=&gt; Loss is better, different trajectories, so velocity field is better suited</a:t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The Critic</a:t>
            </a:r>
            <a:endParaRPr/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Same </a:t>
            </a:r>
            <a:r>
              <a:rPr lang="de-CH"/>
              <a:t>architecture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Only used for labeling the data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Trained with categorical head (not regression, why? paper: Stop regressing)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Show: Episode progress with filmstrip</a:t>
            </a:r>
            <a:endParaRPr/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Advantage and threshold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Formula to calculate it, TD vs. Monte Carlo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Visualization of episode progress, threshold and phases that are advantage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SnapFlow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Goal: Skip the 10 denoising step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Visualization: Animation of 1 and 10 euler steps, vs snapflow single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Knowledge insulation during pre-training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State dropout</a:t>
            </a:r>
            <a:endParaRPr/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Issue: Critic used a single dimension, the gripper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Fix: State dropout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Guidance Baking</a:t>
            </a:r>
            <a:endParaRPr/>
          </a:p>
        </p:txBody>
      </p:sp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Snapflow combined with classifier free guidance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Snapflow does learn the guided denoising steps, so it can skip the two passes through the vlm (which is the expensive part).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But: guidance is no longer a runtime parameter, changing it requires a new distillation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406800" y="1067524"/>
            <a:ext cx="105870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Results and analysis</a:t>
            </a:r>
            <a:endParaRPr/>
          </a:p>
        </p:txBody>
      </p:sp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Headline Results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KI improves policy without the recap phase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recap then improves on two suites, loses on one suite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CFG also works and improves slightly</a:t>
            </a:r>
            <a:endParaRPr/>
          </a:p>
        </p:txBody>
      </p:sp>
      <p:sp>
        <p:nvSpPr>
          <p:cNvPr id="212" name="Google Shape;212;p28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Why does `long` regress?</a:t>
            </a:r>
            <a:endParaRPr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Fine Tuning</a:t>
            </a:r>
            <a:r>
              <a:rPr lang="de-CH"/>
              <a:t> phase does not contain enough positive examples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Adding in demonstration helps and improves it again</a:t>
            </a:r>
            <a:endParaRPr/>
          </a:p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Ablation: the threshold f⁺ (the dosage problem)</a:t>
            </a:r>
            <a:endParaRPr/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f+ determines what is labeled positive and negative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Correct but low value (approach, …) labeled negative if </a:t>
            </a:r>
            <a:r>
              <a:rPr lang="de-CH"/>
              <a:t>threshold</a:t>
            </a:r>
            <a:r>
              <a:rPr lang="de-CH"/>
              <a:t> to high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t/>
            </a:r>
            <a:endParaRPr/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 Analysis: guidance only pays off after co-training</a:t>
            </a:r>
            <a:endParaRPr/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1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 Where the policies still fail</a:t>
            </a:r>
            <a:endParaRPr/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Is the critic needed at all?</a:t>
            </a:r>
            <a:endParaRPr/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Labeling all frames in a failed episode as negative and all frames in a succes as positive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Works as well, if success/failed episode is available</a:t>
            </a:r>
            <a:endParaRPr/>
          </a:p>
        </p:txBody>
      </p:sp>
      <p:sp>
        <p:nvSpPr>
          <p:cNvPr id="252" name="Google Shape;252;p33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SnapFlow: accuracy versus latency</a:t>
            </a:r>
            <a:endParaRPr/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SnapFlow reduces latency by skipping denoising steps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But loses some success (not dramatically)</a:t>
            </a:r>
            <a:endParaRPr/>
          </a:p>
        </p:txBody>
      </p:sp>
      <p:sp>
        <p:nvSpPr>
          <p:cNvPr id="260" name="Google Shape;260;p34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Performance measurements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-SnapFlow vs. Denoising</a:t>
            </a:r>
            <a:endParaRPr/>
          </a:p>
        </p:txBody>
      </p:sp>
      <p:sp>
        <p:nvSpPr>
          <p:cNvPr id="268" name="Google Shape;268;p35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Conclusions</a:t>
            </a:r>
            <a:endParaRPr/>
          </a:p>
        </p:txBody>
      </p:sp>
      <p:sp>
        <p:nvSpPr>
          <p:cNvPr id="275" name="Google Shape;275;p36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Critic-guided rollout post-training transfers from 5-billion- to 450-million-parameter models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It transfers with one condition: rollouts alone only amplify what the policy can already do; mixed-in demonstrations are what brings missing skills in and prevents forgetting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-CH"/>
              <a:t>One-step distillation preserves the result to within 2 points at 3.6× less latency — which is what brings the method onto the hardware a mobile robot actually carries.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406800" y="1170372"/>
            <a:ext cx="110124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QA</a:t>
            </a:r>
            <a:endParaRPr/>
          </a:p>
        </p:txBody>
      </p:sp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406800" y="1989138"/>
            <a:ext cx="11016900" cy="41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 txBox="1"/>
          <p:nvPr>
            <p:ph idx="12" type="sldNum"/>
          </p:nvPr>
        </p:nvSpPr>
        <p:spPr>
          <a:xfrm>
            <a:off x="11460596" y="6620400"/>
            <a:ext cx="376800" cy="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Fachhochschule Nordwestschweiz">
      <a:dk1>
        <a:srgbClr val="000000"/>
      </a:dk1>
      <a:lt1>
        <a:srgbClr val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HNW">
  <a:themeElements>
    <a:clrScheme name="Office-Standar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